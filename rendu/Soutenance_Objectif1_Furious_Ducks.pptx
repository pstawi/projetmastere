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Cahier des spécifications techniques</a:t>
            </a:r>
          </a:p>
          <a:p>
            <a:pPr>
              <a:defRPr sz="2200">
                <a:solidFill>
                  <a:srgbClr val="C9D6E0"/>
                </a:solidFill>
              </a:defRPr>
            </a:pPr>
            <a:r>
              <a:t>Workflow de production industrialisé - Agence Furious Ducks</a:t>
            </a:r>
          </a:p>
          <a:p>
            <a:pPr>
              <a:defRPr sz="1800" b="1">
                <a:solidFill>
                  <a:srgbClr val="2E86AB"/>
                </a:solidFill>
              </a:defRPr>
            </a:pPr>
            <a:r>
              <a:t>Objectif n°1 - Soutenance</a:t>
            </a:r>
          </a:p>
          <a:p>
            <a:br/>
            <a:pPr>
              <a:defRPr sz="1300">
                <a:solidFill>
                  <a:srgbClr val="8A949E"/>
                </a:solidFill>
              </a:defRPr>
            </a:pPr>
            <a:r>
              <a:t>Version 2.0 - Rédacteurs : &lt;Prénom NOM&gt;, &lt;Prénom NOM&gt; - Date : à compléter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Plan de la soutenance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Contexte et problématique de l'agence Furious Ducks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Méthodologie de projet : Scrum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DevOps / DevSecOps et topologie d'équipe cible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Architecture du workflow CI/CD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Exigences mesurables : KPI, SLO/SLA, RTO/RPO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Procédures opérationnelles (déploiement, sauvegarde, incident)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Ressources humaines : recrutement et formation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Planning, coûts et rentabilité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Registre des risques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Conclusion et message de positionnement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A. État des lieux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Contexte : l'agence Furious Ducks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Webagency open source fondée en 2007, 45 collaborateurs, dirigée par M. Guido Brasletti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Croissance rapide du nombre de projets clients -&gt; désorganisation opérationnelle croissante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Aucune équipe dédiée à l'exploitation ou à l'industrialisation de la production (pas de pôle DevOps)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Besoin : structurer la production pour absorber la croissance sans dégrader qualité, délais, confiance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A.2 Irritants identifiés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Problématique actuelle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Criticité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Irritant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Absence de versionning structuré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Perte de code, conflits, non-traçabilité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Intégration / déploiement manuels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Erreurs humaines, délais longs et variables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Absence de sauvegardes automatisées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Risque de perte de données irréversible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Procédures de mise en production inexistantes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Dépendance à des individus clés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Visibilité limitée sur la qualité 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Détection tardive des régressions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Absence de méthodologie de projet homogène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Pilotage inter-projets difficile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A.3 Vision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Objectif cible (To-Be)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Mettre en place un workflow reproductible, mesurable et maintenable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Capable de supporter plusieurs projets clients simultanément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Standards communs entre projets, stack 100 % open source imposée par le sujet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Passage d'un cycle en V cloisonné à un pilotage Scrum + CI/CD outillé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B. Cadre de pilotage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Méthodologie de projet :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Rôles : Product Owner, Scrum Master, Équipe projet (dev, DevOps, testeur)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Rituels : Sprint Planning, Daily Scrum, Sprint Review, Sprint Retrospective (sprints de 2 semaines)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Definition of Done alignée CI/CD : code versionné, pipeline vert, documentation à jour, preuve archivée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Chaque user story -&gt; branche dédiée -&gt; pull request -&gt; validation automatique par le pipeline Jenkins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C. Culture et organisation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DevOps / DevSecOps et topologie d'équipe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DevOps : pipeline commun, indicateurs partagés dev/ops, procédures standardisées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DevSecOps : gestion des accès, secrets jamais en clair, journalisation, correctifs sous 7 jours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Topologie cible : Build owner (CI/CD) / Run owner (exploitation) / Référent sécurité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Modèle « You build it, you run it » adapté, support transverse mutualisé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Matrice RACI dédiée (cahier, section C.5) pour clarifier qui décide sur chaque activité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D/F. Vue technique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du workflow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Zone publique : Traefik (reverse proxy, TLS Let's Encrypt), seul point exposé sur Internet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Zone outils internes : Jenkins, Gitea, Registry, Prometheus, Grafana, Uptime Kuma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Zone applicative : environnements dev / préprod / prod isolés par réseau Docker dédié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Zone données : volumes persistants et sauvegardes, aucune exposition réseau externe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Flux : Développeur -&gt; Gitea -&gt; webhook Jenkins -&gt; build/test/push image -&gt; déploiement dev/préprod/prod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D.2 Briques logicielles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Choix techniques justifiés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372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Brique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Solution retenue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 (synthèse)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Reverse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Traefik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Intégration Docker native, TLS automatique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SCM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Gitea (auto-hébergé)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Open source, léger, PR/webhooks natifs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Jenkins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Imposé par le sujet, pipelines déclaratifs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Registry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Docker Registry privée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Suffisante, légère, authentifiée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Observabilité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Standard open source, alerting natif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Disponibilité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Uptime Kuma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Léger, auto-hébergé, simple à opérer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Sauvegardes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Restic + stockage distant chiffré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Snapshots incrémentaux chiffrés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D.3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Hébergement et politique de sauvegarde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Serveur dédié Linux : 8 vCPU / 32 Go RAM / 500 Go SSD / 1 Gbit/s garantis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SLA hébergement visé ≥ 99,0 % - GTR ≤ 4h pour panne matérielle critique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Sauvegarde quotidienne (rétention glissante 30 jours) + hebdomadaire longue conservation (12 semaines)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Restauration testée mensuellement sur environnement isolé, avec contrôle d'intégrité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E. KPI / SLO / SLA / RTO-RPO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Exigences mesurables (extraits)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Domaine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Cible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Seuil d'alerte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Durée moyenne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≤ 12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&gt; 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Taux de succès pipeline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≥ 90 %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&lt; 85 %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Passage quality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≥ 85 %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&lt; 75 %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Disponibilité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SLO Gitea / Jenkins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99,5 % / 99,0 %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Résilience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RPO / 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≤ 24h / ≤ 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&gt; 24h / &gt; 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H. BPMN / UML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Procédures opérationnelles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Déploiement dev -&gt; préprod -&gt; prod : pipeline automatisé jusqu'à validation manuelle go/no-go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Sauvegarde automatisée : snapshot, chiffrement, upload distant, contrôle d'intégrité, alerting si échec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Restauration : qualification impact, restauration isolée, tests de validation, bascule, post-mortem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Gestion d'incident critique : triage, mesure conservatoire, rollback/correctif, communication, post-mortem sous 48h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G.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Ressources humaines : recrutement et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Poste créé : Responsable Workflow / Ingénieur DevOps (CDI, cadre)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Missions : exploitation, fiabilisation, évolution de la chaîne CI/CD, gestion des sauvegardes/incidents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Plan d'onboarding sur 4 semaines : architecture -&gt; pipelines -&gt; observabilité -&gt; sauvegarde/sécurité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Évaluation finale : exercice de restauration réalisé en autonomie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I. Gantt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Planning (macro et détaillé)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7 lots de travail, macro-planning sur 5 semaines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28 tâches détaillées avec prédécesseurs et ressources (fichier gantt_objectif1.csv, importable MS Project/GanttProject)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5 jalons : architecture validée (J1), pipeline bout en bout (J2), sauvegarde/restauration testées (J3), documentation/RH finalisées (J4), dossier complet (J5)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J.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Coûts et rentabilité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Investissement initial (mise en place) : 12 500 € facturés (coût interne chargé ≈ 8 940 €)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Coût mensuel global (infra + run) : 1 838 €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Gains attendus à 12 mois : lead time -30 % à -50 %, incidents de déploiement -30 % environ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Valorisation précise des gains via les KPI réels après 2 à 3 mois d'exploitation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K.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Registre des risques (top 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Risque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Criticité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Parade</a:t>
                      </a:r>
                    </a:p>
                  </a:txBody>
                  <a:tcPr>
                    <a:solidFill>
                      <a:srgbClr val="1B2A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Panne matérielle serveur dédié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Élevée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Sauvegardes externalisées + reconstruction rapide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Dépendance à une seule ressource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Élevée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Documentation + fiche de poste + formation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Échec silencieux d'une sauvegarde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Contrôle d'intégrité auto + 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Fuite de secrets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Scan automatique + gestion stricte des credentials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Résistance au changement (cycle en V -&gt; 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B2A38"/>
                          </a:solidFill>
                        </a:defRPr>
                      </a:pPr>
                      <a:r>
                        <a:t>Accompagnement progressif + KPI visibles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6AB"/>
                </a:solidFill>
              </a:defRPr>
            </a:pPr>
            <a:r>
              <a:t>Synthèse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Conclusion et message de positionnement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Un workflow conforme aux contraintes du sujet : Linux, Docker, Jenkins, 100 % open source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Une chaîne CI/CD industrialisée, mesurable (KPI/SLO/SLA) et résiliente (sauvegarde/restauration testées)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Une gouvernance claire (RACI, Scrum, DevSecOps) et une trajectoire RH pour pérenniser l'exploitation</a:t>
            </a:r>
          </a:p>
          <a:p>
            <a:pPr>
              <a:spcAft>
                <a:spcPts val="800"/>
              </a:spcAft>
              <a:defRPr sz="1800">
                <a:solidFill>
                  <a:srgbClr val="1B2A38"/>
                </a:solidFill>
              </a:defRPr>
            </a:pPr>
            <a:r>
              <a:t>•  Un cahier autonome et complet, prêt à être mis en œuvre indépendamment de tout projet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9E"/>
                </a:solidFill>
              </a:defRPr>
            </a:pPr>
            <a:r>
              <a:t>Furious Ducks - Objectif 1 - Workflow de production - Document pédagogique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